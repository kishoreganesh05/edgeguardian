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ato Thin"/>
      <p:regular r:id="rId201314"/>
    </p:embeddedFont>
    <p:embeddedFont>
      <p:font typeface="Lato Light"/>
      <p:regular r:id="rId201315"/>
    </p:embeddedFont>
    <p:embeddedFont>
      <p:font typeface="Lato"/>
      <p:regular r:id="rId201316"/>
    </p:embeddedFont>
    <p:embeddedFont>
      <p:font typeface="Lato Bold"/>
      <p:regular r:id="rId201317"/>
    </p:embeddedFont>
    <p:embeddedFont>
      <p:font typeface="Lato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image" Target="../media/image-5-6.jpe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8.png"/><Relationship Id="rId11" Type="http://schemas.openxmlformats.org/officeDocument/2006/relationships/image" Target="../media/image-6-9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662410"/>
            <a:ext cx="2089175" cy="266402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704901"/>
            <a:ext cx="237626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TATA TECHNOLOGIES INNOVENT-27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6085136" y="1662410"/>
            <a:ext cx="1467148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282824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70191" y="1704901"/>
            <a:ext cx="175423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8282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 3.2.2.2 — EDGE AI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198551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Edge-Guardian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3925119" y="2641104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Autonomous, Physics-Aware Edge AI for Industrial Transformer and Feeder Protection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Co-sponsored by Tata Technologies · AWS · Emerson 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9220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Industrial Power Infrastructure is Flying Blind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25119" y="1487016"/>
            <a:ext cx="4722763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India operates 13 million distribution transformers with a 10% annual failure rate — 1.3 million failures every year. Each failure costs industrial facilities 5–10% of monthly revenue. Root causes are detectable weeks in advance — but go undetected because affordable, asset-level monitoring doesn't exist.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501950"/>
            <a:ext cx="2294855" cy="10396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57663" y="265829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Utility-Grade SCADA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157663" y="2952601"/>
            <a:ext cx="19059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₹2–5 lakh per node — inaccessible to most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2952" y="2501950"/>
            <a:ext cx="2294930" cy="10396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5496" y="265829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Plant Incomer Only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585496" y="2952601"/>
            <a:ext cx="19060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Monitoring at plant level, not individual transformers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674566"/>
            <a:ext cx="2294855" cy="103963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57663" y="3830910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Cloud Rejected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157663" y="4125218"/>
            <a:ext cx="19059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Air-gapped industrial OT networks reject cloud solutions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2952" y="3674566"/>
            <a:ext cx="2294930" cy="103963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85496" y="3830910"/>
            <a:ext cx="174694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63M MSMEs Unserved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6585496" y="4125218"/>
            <a:ext cx="19060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Zero transformer monitoring infrastructure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55895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Market Opportunity &amp; Tailwinds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Government Tailwind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RDSS scheme — ₹12,585 crore in FY25. 5 million transformers sanctioned for metering. Peak demand growing 243 GW → 400 GW by 2030.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6253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Sustainability Impact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3025750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unhealthy transformer wastes 71 tonnes CO₂ annually. At 1% market penetration — 923,000 tonnes CO₂ avoided per year.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2941"/>
            <a:ext cx="4722763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From Reactive Repair to Autonomous Prevention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96119" y="1142405"/>
            <a:ext cx="47227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an edge-native, AI-powered transformer health monitoring system that predicts failures weeks in advance, operates without cloud dependency, and costs under ₹2,000 per node.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1480914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496119" y="1632198"/>
            <a:ext cx="4722763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7" name="Text 4"/>
          <p:cNvSpPr/>
          <p:nvPr/>
        </p:nvSpPr>
        <p:spPr>
          <a:xfrm>
            <a:off x="496119" y="1709440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Physics-First Sensing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6119" y="1901875"/>
            <a:ext cx="47227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Dual CT+VT sensors on feeder and secondary compute differential power loss — enabling fault classification, not just alerting.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96119" y="2305050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96119" y="2456334"/>
            <a:ext cx="4722763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1" name="Text 8"/>
          <p:cNvSpPr/>
          <p:nvPr/>
        </p:nvSpPr>
        <p:spPr>
          <a:xfrm>
            <a:off x="496119" y="2533576"/>
            <a:ext cx="167305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Three-Tier Edge State Machine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96119" y="2726010"/>
            <a:ext cx="47227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Deterministic safety in under 50µs. Physics extraction in milliseconds. TFLite inference every 500ms. AI never touches safety-critical decisions.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6119" y="3129186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96119" y="3280470"/>
            <a:ext cx="4722763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5" name="Text 12"/>
          <p:cNvSpPr/>
          <p:nvPr/>
        </p:nvSpPr>
        <p:spPr>
          <a:xfrm>
            <a:off x="496119" y="3357711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Physics-Informed ML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6119" y="3550146"/>
            <a:ext cx="47227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Autoencoder trained on synthetic data derived from the same physics equations running in firmware. Fine-tuned on real circuit data after deployment.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96119" y="3953321"/>
            <a:ext cx="194890" cy="1218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04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96119" y="4104605"/>
            <a:ext cx="4722763" cy="14288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9" name="Text 16"/>
          <p:cNvSpPr/>
          <p:nvPr/>
        </p:nvSpPr>
        <p:spPr>
          <a:xfrm>
            <a:off x="496119" y="4181847"/>
            <a:ext cx="145434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Agentic Maintenance Loop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6119" y="4374282"/>
            <a:ext cx="47227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LLM agent monitors telemetry continuously, generates work orders autonomously on fault detection, dispatches in under 60 seconds.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083"/>
            <a:ext cx="458301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Six Layers of Industrial Intelligence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90811"/>
            <a:ext cx="863798" cy="8637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5425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Edge Monitoring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96119" y="2068116"/>
            <a:ext cx="1963192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Dual CT+VT sensors, 16-bit ADC, ESP32-S3. Non-invasive clip-on — no rewiring, no shutdown.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951" y="890811"/>
            <a:ext cx="863798" cy="8637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58951" y="1854250"/>
            <a:ext cx="140404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TinyML Fault Detection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558951" y="2068116"/>
            <a:ext cx="196319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TFLite Micro autoencoder on ESP32-S3. Inference under 2ms. Classifies winding degradation, overload, feeder loss, or energy theft.</a:t>
            </a:r>
            <a:endParaRPr lang="en-US" sz="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783" y="890811"/>
            <a:ext cx="863798" cy="8637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21783" y="185425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Remaining Useful Life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621783" y="2068116"/>
            <a:ext cx="196319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Thermal regression model estimates hours to critical failure. Live countdown on dashboard. Weeks of advance warning instead of zero.</a:t>
            </a:r>
            <a:endParaRPr lang="en-US" sz="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615" y="890811"/>
            <a:ext cx="863798" cy="8637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84615" y="185425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Energy Loss Analytics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684615" y="2068116"/>
            <a:ext cx="196326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differential efficiency reports per node. Displays kWh wasted, ₹ lost, CO₂ emitted — turning invisible waste into a quantified cost line.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822897"/>
            <a:ext cx="863798" cy="86379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786336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Asset Digital Shadow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496119" y="4000202"/>
            <a:ext cx="1963192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Live virtual representation updated every 500ms. Current state, 7-day health trend, 24-hour predictive projection, full anomaly history.</a:t>
            </a:r>
            <a:endParaRPr lang="en-US" sz="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8951" y="2822897"/>
            <a:ext cx="863798" cy="86379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58951" y="3786336"/>
            <a:ext cx="184584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Agentic Maintenance Assistant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2558951" y="4000202"/>
            <a:ext cx="196319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LLM-powered agent detects fault → reasons about type and urgency → generates work order → dispatches via WhatsApp or email. No human trigger required.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43595"/>
            <a:ext cx="5139258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What Makes Edge-Guardian Different</a:t>
            </a:r>
            <a:endParaRPr lang="en-US" sz="2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19473"/>
            <a:ext cx="1516559" cy="2070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7909" y="1102519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21134" y="1462385"/>
            <a:ext cx="1266527" cy="34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Dual Differential Sensing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21134" y="1860277"/>
            <a:ext cx="1266527" cy="110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₹1.5 lakh industrial differential protection relay logic on a ₹400 microcontroller. Sensors at both feeder and secondary classify fault type and location.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9146" y="1019473"/>
            <a:ext cx="1516633" cy="20701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90937" y="1102519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2224162" y="1462385"/>
            <a:ext cx="1266602" cy="34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Physics-Gated TinyML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224162" y="1860277"/>
            <a:ext cx="1266602" cy="110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Raw data never reaches ML. Deterministic physics engine computes RMS, PF, power, thermal regression first. Model receives a clean 7-value feature vector.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02248" y="1019473"/>
            <a:ext cx="1516559" cy="20701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94039" y="1102519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3827264" y="1462385"/>
            <a:ext cx="1266527" cy="34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Deterministic-AI Hybrid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3827264" y="1860277"/>
            <a:ext cx="1266527" cy="110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architecturally prevented from safety-critical decisions. FreeRTOS mutex enforces core isolation. Mirrors aviation and nuclear safety architecture.</a:t>
            </a:r>
            <a:endParaRPr lang="en-US" sz="8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176067"/>
            <a:ext cx="2318072" cy="142383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88629" y="3259113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621134" y="3618979"/>
            <a:ext cx="1651546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Agentic Maintenance Loop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621134" y="3843858"/>
            <a:ext cx="2068041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LLM agent reasons about fault type, severity, urgency — generates work order — dispatches in under 60 seconds. Fully autonomous.</a:t>
            </a:r>
            <a:endParaRPr lang="en-US" sz="8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00660" y="3176067"/>
            <a:ext cx="2318147" cy="142383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993245" y="3259113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3025676" y="3618979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Cost Democratisation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3025676" y="3843858"/>
            <a:ext cx="2068116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₹2,000 per node vs ₹2–5 lakh SCADA. 100x cost reduction. First solution priced for India's 63 million MSMEs.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26184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How Edge-Guardian Works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2291" y="682154"/>
            <a:ext cx="5579343" cy="4428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3292" y="2532876"/>
            <a:ext cx="1002649" cy="687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Edge-Guardian Data Path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49638" y="1038454"/>
            <a:ext cx="1491619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Transformer &amp; Feeder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49638" y="1562196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sources of line signals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63393" y="1153087"/>
            <a:ext cx="149161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Fleet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63393" y="1447564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Asset shadow, RUL &amp; energy loss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63393" y="3948583"/>
            <a:ext cx="1491619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ESP32-S3 (3 Tiers)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563393" y="4472325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Tier1 rules, Tier2 features, Tier3 TFLite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49638" y="4063215"/>
            <a:ext cx="1491619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ADS1115 ADC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49638" y="4357692"/>
            <a:ext cx="1491619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High-resolution digitization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587645" y="2587772"/>
            <a:ext cx="1524226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CT &amp; VT Sensors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87645" y="2882249"/>
            <a:ext cx="1524226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and voltage sensing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017235" y="2595924"/>
            <a:ext cx="1524226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MQTT to Gateway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017235" y="2890401"/>
            <a:ext cx="1524226" cy="275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Publish telemetry securely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96119" y="5150941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Three-tier state machine: Tier 1 runs hard physics rules in under 50µs. Tier 2 extracts RMS, power factor, efficiency features in milliseconds. Tier 3 runs TFLite Micro inference every 500ms on Core 1. FreeRTOS mutex enforces core isolation between safety-critical and AI layers.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496119" y="5360863"/>
            <a:ext cx="8151763" cy="968722"/>
          </a:xfrm>
          <a:prstGeom prst="roundRect">
            <a:avLst>
              <a:gd name="adj" fmla="val 109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946" y="5391596"/>
            <a:ext cx="235103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Component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2607469" y="5391596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Role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3828752" y="5391596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5050036" y="5391596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6271320" y="5391596"/>
            <a:ext cx="275815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571946" y="5533355"/>
            <a:ext cx="235103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SCT-013-030 ×2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2607469" y="5533355"/>
            <a:ext cx="107959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CT1 feeder / CT2 secondary current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3828752" y="5533355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5050036" y="5533355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6271320" y="5533355"/>
            <a:ext cx="275815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571946" y="5760169"/>
            <a:ext cx="235103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ZMPT101B ×2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2607469" y="5760169"/>
            <a:ext cx="107959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VT1 feeder / VT2 secondary voltage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3828752" y="5760169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5050036" y="5760169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33" name="Text 30"/>
          <p:cNvSpPr/>
          <p:nvPr/>
        </p:nvSpPr>
        <p:spPr>
          <a:xfrm>
            <a:off x="6271320" y="5760169"/>
            <a:ext cx="275815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571946" y="5986983"/>
            <a:ext cx="235103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ADS1115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2607469" y="5986983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16-bit ADC, I2C 400kHz, 860 SPS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3828752" y="5986983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5050036" y="5986983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6271320" y="5986983"/>
            <a:ext cx="275815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571946" y="6128742"/>
            <a:ext cx="235103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ESP32-S3</a:t>
            </a:r>
            <a:endParaRPr lang="en-US" sz="550" dirty="0"/>
          </a:p>
        </p:txBody>
      </p:sp>
      <p:sp>
        <p:nvSpPr>
          <p:cNvPr id="40" name="Text 37"/>
          <p:cNvSpPr/>
          <p:nvPr/>
        </p:nvSpPr>
        <p:spPr>
          <a:xfrm>
            <a:off x="2607469" y="6128742"/>
            <a:ext cx="107959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Dual-core 240MHz, WiFi, TFLite Micro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3828752" y="6128742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42" name="Text 39"/>
          <p:cNvSpPr/>
          <p:nvPr/>
        </p:nvSpPr>
        <p:spPr>
          <a:xfrm>
            <a:off x="5050036" y="6128742"/>
            <a:ext cx="153679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43" name="Text 40"/>
          <p:cNvSpPr/>
          <p:nvPr/>
        </p:nvSpPr>
        <p:spPr>
          <a:xfrm>
            <a:off x="6271320" y="6128742"/>
            <a:ext cx="275815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6336"/>
            <a:ext cx="5036865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Honest Engineering — Challenges &amp; Solutions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4567238" y="846386"/>
            <a:ext cx="9525" cy="3850704"/>
          </a:xfrm>
          <a:prstGeom prst="roundRect">
            <a:avLst>
              <a:gd name="adj" fmla="val 143023"/>
            </a:avLst>
          </a:prstGeom>
          <a:solidFill>
            <a:srgbClr val="CBC5B8"/>
          </a:solidFill>
          <a:ln/>
        </p:spPr>
      </p:sp>
      <p:sp>
        <p:nvSpPr>
          <p:cNvPr id="4" name="Shape 2"/>
          <p:cNvSpPr/>
          <p:nvPr/>
        </p:nvSpPr>
        <p:spPr>
          <a:xfrm>
            <a:off x="486594" y="846386"/>
            <a:ext cx="4075881" cy="544860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3146822" y="937171"/>
            <a:ext cx="132486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ESP32 ADC Non-Linearity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77379" y="1113979"/>
            <a:ext cx="3894311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Replaced onboard ADC with external ADS1115 16-bit module for precision measurement.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581525" y="1507554"/>
            <a:ext cx="4075881" cy="544860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4672310" y="1598340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230V Primary Safety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72310" y="1775147"/>
            <a:ext cx="3894311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Open-frame transformer enclosed in sealed project box, RCD adapter on mains input.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86594" y="2168723"/>
            <a:ext cx="4075881" cy="544860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3105299" y="2259509"/>
            <a:ext cx="1366391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Low Sample Rate (200 SPS)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77379" y="2436316"/>
            <a:ext cx="3894311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Cross-correlation for power factor instead of zero-crossing detection.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81525" y="2829892"/>
            <a:ext cx="4075881" cy="544860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4672310" y="2920678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Cross-Core Data Race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72310" y="3097485"/>
            <a:ext cx="3894311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FreeRTOS mutex protecting shared FeatureVector struct between cores.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86594" y="3491061"/>
            <a:ext cx="4075881" cy="544860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17" name="Text 15"/>
          <p:cNvSpPr/>
          <p:nvPr/>
        </p:nvSpPr>
        <p:spPr>
          <a:xfrm>
            <a:off x="3069654" y="3581846"/>
            <a:ext cx="1402035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TFLite Model Size on ESP32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77379" y="3758654"/>
            <a:ext cx="3894311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INT8 quantisation reducing model to under 50KB for on-device inference.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81525" y="4152230"/>
            <a:ext cx="4075881" cy="544860"/>
          </a:xfrm>
          <a:prstGeom prst="rect">
            <a:avLst/>
          </a:prstGeom>
          <a:solidFill>
            <a:srgbClr val="E5DFD2"/>
          </a:solidFill>
          <a:ln/>
        </p:spPr>
      </p:sp>
      <p:sp>
        <p:nvSpPr>
          <p:cNvPr id="20" name="Text 18"/>
          <p:cNvSpPr/>
          <p:nvPr/>
        </p:nvSpPr>
        <p:spPr>
          <a:xfrm>
            <a:off x="4672310" y="4243015"/>
            <a:ext cx="155733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 Real Fault Data for Training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72310" y="4419823"/>
            <a:ext cx="3894311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Physics-informed synthetic data generation from firmware equations.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420"/>
            <a:ext cx="3540398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Edge-Guardian in Action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965374"/>
            <a:ext cx="86089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Hardware BOM finalised, firmware architecture complete, circuit design validated, ML pipeline ready, dashboard architecture defined.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228948"/>
            <a:ext cx="815132" cy="618753"/>
          </a:xfrm>
          <a:prstGeom prst="roundRect">
            <a:avLst>
              <a:gd name="adj" fmla="val 2739"/>
            </a:avLst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824285" y="1439019"/>
            <a:ext cx="1588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424211" y="134190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Normal Operation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24211" y="1572369"/>
            <a:ext cx="711071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 3 nodes publishing healthy telemetry. Dashboard shows green health scores 85–95.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67730" y="1841748"/>
            <a:ext cx="7223671" cy="7144"/>
          </a:xfrm>
          <a:prstGeom prst="roundRect">
            <a:avLst>
              <a:gd name="adj" fmla="val 237201"/>
            </a:avLst>
          </a:prstGeom>
          <a:solidFill>
            <a:srgbClr val="CBC5B8"/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1904181"/>
            <a:ext cx="1630338" cy="618753"/>
          </a:xfrm>
          <a:prstGeom prst="roundRect">
            <a:avLst>
              <a:gd name="adj" fmla="val 2739"/>
            </a:avLst>
          </a:prstGeom>
          <a:solidFill>
            <a:srgbClr val="E5DFD2"/>
          </a:solidFill>
          <a:ln/>
        </p:spPr>
      </p:sp>
      <p:sp>
        <p:nvSpPr>
          <p:cNvPr id="10" name="Text 8"/>
          <p:cNvSpPr/>
          <p:nvPr/>
        </p:nvSpPr>
        <p:spPr>
          <a:xfrm>
            <a:off x="1231850" y="2114252"/>
            <a:ext cx="1588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239417" y="2017142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Fault Injection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39417" y="2247602"/>
            <a:ext cx="629550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Series resistor added to Node 2 secondary — simulates feeder cable resistance increase.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82937" y="2516981"/>
            <a:ext cx="6408465" cy="7144"/>
          </a:xfrm>
          <a:prstGeom prst="roundRect">
            <a:avLst>
              <a:gd name="adj" fmla="val 237201"/>
            </a:avLst>
          </a:prstGeom>
          <a:solidFill>
            <a:srgbClr val="CBC5B8"/>
          </a:solidFill>
          <a:ln/>
        </p:spPr>
      </p:sp>
      <p:sp>
        <p:nvSpPr>
          <p:cNvPr id="14" name="Shape 12"/>
          <p:cNvSpPr/>
          <p:nvPr/>
        </p:nvSpPr>
        <p:spPr>
          <a:xfrm>
            <a:off x="496119" y="2579415"/>
            <a:ext cx="2445469" cy="618753"/>
          </a:xfrm>
          <a:prstGeom prst="roundRect">
            <a:avLst>
              <a:gd name="adj" fmla="val 2739"/>
            </a:avLst>
          </a:prstGeom>
          <a:solidFill>
            <a:srgbClr val="E5DFD2"/>
          </a:solidFill>
          <a:ln/>
        </p:spPr>
      </p:sp>
      <p:sp>
        <p:nvSpPr>
          <p:cNvPr id="15" name="Text 13"/>
          <p:cNvSpPr/>
          <p:nvPr/>
        </p:nvSpPr>
        <p:spPr>
          <a:xfrm>
            <a:off x="1639416" y="2789486"/>
            <a:ext cx="1588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54548" y="2692375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54548" y="2922836"/>
            <a:ext cx="548037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Tier 2 computes rising Eff_Delta. Autoencoder reconstruction error crosses threshold. Anomaly flag = true.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98068" y="3192214"/>
            <a:ext cx="5593333" cy="7144"/>
          </a:xfrm>
          <a:prstGeom prst="roundRect">
            <a:avLst>
              <a:gd name="adj" fmla="val 237201"/>
            </a:avLst>
          </a:prstGeom>
          <a:solidFill>
            <a:srgbClr val="CBC5B8"/>
          </a:solidFill>
          <a:ln/>
        </p:spPr>
      </p:sp>
      <p:sp>
        <p:nvSpPr>
          <p:cNvPr id="19" name="Shape 17"/>
          <p:cNvSpPr/>
          <p:nvPr/>
        </p:nvSpPr>
        <p:spPr>
          <a:xfrm>
            <a:off x="496119" y="3254648"/>
            <a:ext cx="3260675" cy="618753"/>
          </a:xfrm>
          <a:prstGeom prst="roundRect">
            <a:avLst>
              <a:gd name="adj" fmla="val 2739"/>
            </a:avLst>
          </a:prstGeom>
          <a:solidFill>
            <a:srgbClr val="E5DFD2"/>
          </a:solidFill>
          <a:ln/>
        </p:spPr>
      </p:sp>
      <p:sp>
        <p:nvSpPr>
          <p:cNvPr id="20" name="Text 18"/>
          <p:cNvSpPr/>
          <p:nvPr/>
        </p:nvSpPr>
        <p:spPr>
          <a:xfrm>
            <a:off x="2047056" y="3464719"/>
            <a:ext cx="1588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69754" y="3367608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Dashboard Response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69754" y="3598069"/>
            <a:ext cx="466516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Node 2 turns red. Health score drops 87 → 43. RUL countdown accelerates. Energy loss spikes.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13274" y="3867448"/>
            <a:ext cx="4778127" cy="7144"/>
          </a:xfrm>
          <a:prstGeom prst="roundRect">
            <a:avLst>
              <a:gd name="adj" fmla="val 237201"/>
            </a:avLst>
          </a:prstGeom>
          <a:solidFill>
            <a:srgbClr val="CBC5B8"/>
          </a:solidFill>
          <a:ln/>
        </p:spPr>
      </p:sp>
      <p:sp>
        <p:nvSpPr>
          <p:cNvPr id="24" name="Shape 22"/>
          <p:cNvSpPr/>
          <p:nvPr/>
        </p:nvSpPr>
        <p:spPr>
          <a:xfrm>
            <a:off x="496119" y="3929881"/>
            <a:ext cx="4075881" cy="781124"/>
          </a:xfrm>
          <a:prstGeom prst="roundRect">
            <a:avLst>
              <a:gd name="adj" fmla="val 2169"/>
            </a:avLst>
          </a:prstGeom>
          <a:solidFill>
            <a:srgbClr val="E5DFD2"/>
          </a:solidFill>
          <a:ln/>
        </p:spPr>
      </p:sp>
      <p:sp>
        <p:nvSpPr>
          <p:cNvPr id="25" name="Text 23"/>
          <p:cNvSpPr/>
          <p:nvPr/>
        </p:nvSpPr>
        <p:spPr>
          <a:xfrm>
            <a:off x="2454622" y="4221138"/>
            <a:ext cx="1588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84961" y="4042842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Agentic Response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84961" y="4273302"/>
            <a:ext cx="3849960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 generates work order in 60 seconds. WhatsApp message received on judge's phone — live.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1108"/>
            <a:ext cx="74838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From One Factory to National Infrastructure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88455"/>
            <a:ext cx="1905000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₹2,000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562570" y="23334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Cost Per Node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639913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100x reduction vs ₹2–5 lakh SCADA alternatives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78298" y="1688455"/>
            <a:ext cx="190507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923K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2644825" y="23334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Tonnes CO₂ Avoided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578298" y="2639913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Annually at just 1% market penetration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0553" y="1688455"/>
            <a:ext cx="190507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63M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4727079" y="23334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MSMEs Unserved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0553" y="2639913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Primary market with zero existing monitoring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42807" y="1688455"/>
            <a:ext cx="190507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₹1,000Cr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6809333" y="23334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Revenue Potential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42807" y="2639913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 RDSS mandate scale of 5 million nodes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253011"/>
            <a:ext cx="19050" cy="999381"/>
          </a:xfrm>
          <a:prstGeom prst="roundRect">
            <a:avLst>
              <a:gd name="adj" fmla="val 60000"/>
            </a:avLst>
          </a:prstGeom>
          <a:solidFill>
            <a:srgbClr val="282824"/>
          </a:solidFill>
          <a:ln/>
        </p:spPr>
      </p:sp>
      <p:sp>
        <p:nvSpPr>
          <p:cNvPr id="16" name="Text 14"/>
          <p:cNvSpPr/>
          <p:nvPr/>
        </p:nvSpPr>
        <p:spPr>
          <a:xfrm>
            <a:off x="708720" y="3412480"/>
            <a:ext cx="7939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"India loses 1.3 million transformers every year to failures that were entirely predictable. Edge-Guardian gives every industrial facility — from a small textile mill in Tirupur to a steel plant in Jamshedpur — the intelligence to see failure coming and act before it arrives. At ₹2,000 per node, this is not a research prototype. It is a deployable solution waiting for scale."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2026-07-05T16:17:44Z</dcterms:created>
  <dcterms:modified xsi:type="dcterms:W3CDTF">2026-07-05T16:17:44Z</dcterms:modified>
</cp:coreProperties>
</file>